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6528C"/>
                </a:solidFill>
              </a:defRPr>
            </a:pPr>
            <a:r>
              <a:t>DIGITAL ELECTRONICS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E28"/>
                </a:solidFill>
              </a:defRPr>
            </a:pPr>
            <a:r>
              <a:t>Simulation of Half Adders</a:t>
            </a:r>
            <a:br/>
            <a:r>
              <a:t>and Full Adders in Logisim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1E28"/>
                </a:solidFill>
              </a:defRPr>
            </a:pPr>
            <a:r>
              <a:t>Design, implementation and verification of combinational adder circuits.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754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E28"/>
                </a:solidFill>
              </a:defRPr>
            </a:pPr>
            <a:r>
              <a:rPr dirty="0"/>
              <a:t>BY:  </a:t>
            </a:r>
            <a:r>
              <a:rPr lang="en-IN" dirty="0" err="1"/>
              <a:t>Sreepada</a:t>
            </a:r>
            <a:r>
              <a:rPr lang="en-IN" dirty="0"/>
              <a:t> Ch</a:t>
            </a:r>
            <a:br>
              <a:rPr dirty="0"/>
            </a:br>
            <a:r>
              <a:rPr dirty="0"/>
              <a:t>      </a:t>
            </a:r>
            <a:r>
              <a:rPr lang="en-IN" dirty="0"/>
              <a:t> Cherish Keshto</a:t>
            </a:r>
            <a:br>
              <a:rPr dirty="0"/>
            </a:br>
            <a:r>
              <a:rPr dirty="0"/>
              <a:t>       </a:t>
            </a:r>
            <a:r>
              <a:rPr lang="en-IN" dirty="0"/>
              <a:t>Alyaan Khan</a:t>
            </a:r>
            <a:br>
              <a:rPr dirty="0"/>
            </a:br>
            <a:r>
              <a:rPr dirty="0"/>
              <a:t>       </a:t>
            </a:r>
            <a:r>
              <a:rPr lang="en-IN" dirty="0" err="1"/>
              <a:t>Nagilla</a:t>
            </a:r>
            <a:r>
              <a:rPr lang="en-IN" dirty="0"/>
              <a:t> Anish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528C"/>
                </a:solidFill>
              </a:defRPr>
            </a:pPr>
            <a:r>
              <a:t>Digital Electronics Project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What Is an Adder?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47640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E28"/>
                </a:solidFill>
              </a:defRPr>
            </a:pPr>
            <a:r>
              <a:t>An adder is a combinational logic circuit used to perform binary addition. It produces a SUM output and, when required, a CARRY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34440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399032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Two Important Adders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801368"/>
            <a:ext cx="47640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E28"/>
                </a:solidFill>
              </a:defRPr>
            </a:pPr>
            <a:r>
              <a:t>• Half Adder — adds two 1-bit inputs.</a:t>
            </a:r>
            <a:br/>
            <a:r>
              <a:t>• Full Adder — adds two 1-bit inputs plus an incoming carry.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Binary addition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416052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Carry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35040" y="41605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E28"/>
                </a:solidFill>
              </a:defRPr>
            </a:pPr>
            <a:r>
              <a:t>The carry output represents the extra 1 produced when the binary sum is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Half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1E28"/>
                </a:solidFill>
              </a:defRPr>
            </a:pPr>
            <a:r>
              <a:t>A Half Adder adds two single-bit inputs A and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8"/>
            <a:ext cx="28437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E28"/>
                </a:solidFill>
              </a:defRPr>
            </a:pPr>
            <a:r>
              <a:t>S = A ⊕ B</a:t>
            </a:r>
            <a:br/>
            <a:r>
              <a:t>XOR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7407" y="171907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CARRY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2121408"/>
            <a:ext cx="28437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E28"/>
                </a:solidFill>
              </a:defRPr>
            </a:pPr>
            <a:r>
              <a:t>C = A · B</a:t>
            </a:r>
            <a:br/>
            <a:r>
              <a:t>AND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171907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Key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121408"/>
            <a:ext cx="28437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E28"/>
                </a:solidFill>
              </a:defRPr>
            </a:pPr>
            <a:r>
              <a:t>No carry-in input is available, so it cannot directly add a previous stage's carry.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Half Adder — Logic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E28"/>
                </a:solidFill>
              </a:defRPr>
            </a:pPr>
            <a:r>
              <a:t>A ───────► XOR ─────► S</a:t>
            </a:r>
            <a:br/>
            <a:r>
              <a:t>B ───────►      </a:t>
            </a:r>
            <a:br/>
            <a:br/>
            <a:r>
              <a:t>A ───────► AND ─────► C</a:t>
            </a:r>
            <a:br/>
            <a:r>
              <a:t>B ───────►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43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rPr dirty="0"/>
              <a:t>In Logisim, connect two input pins to an XOR gate for SUM and an AND gate for CARRY.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599538-2D2B-1A03-1B1B-DA8D655EF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299" y="3665151"/>
            <a:ext cx="3829344" cy="2715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Half Adder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t>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3716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 + B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CARRY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95160" y="1371600"/>
            <a:ext cx="3931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96328" y="153619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6328" y="1938528"/>
            <a:ext cx="35295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E28"/>
                </a:solidFill>
              </a:defRPr>
            </a:pPr>
            <a:r>
              <a:t>• SUM is 1 when the inputs are different.</a:t>
            </a:r>
            <a:br/>
            <a:r>
              <a:t>• CARRY is 1 only when both inputs are 1.</a:t>
            </a:r>
            <a:br/>
            <a:r>
              <a:t>• This directly matches XOR and AND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1E28"/>
                </a:solidFill>
              </a:defRPr>
            </a:pPr>
            <a:r>
              <a:t>A Full Adder adds three 1-bit values: A, B and an input carry Cin.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88950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E28"/>
                </a:solidFill>
              </a:defRPr>
            </a:pPr>
            <a:r>
              <a:t>S = A ⊕ B ⊕ Cin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0876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7407" y="167335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CARRY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2075688"/>
            <a:ext cx="288950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t>Cout = AB + Cin(A ⊕ 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167335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75688"/>
            <a:ext cx="288950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rPr dirty="0"/>
              <a:t>Full adders can be cascaded to build multi-bit binary adders.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rPr dirty="0"/>
              <a:t>Full Adder using two Half Adders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t>A,B ─► [Half Adder 1] ─► S1, C1</a:t>
            </a:r>
            <a:br/>
            <a:r>
              <a:t>S1,Cin ─► [Half Adder 2] ─► SUM, C2</a:t>
            </a:r>
            <a:br/>
            <a:r>
              <a:t>C1,C2 ─► [OR] ─► Cout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23505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rPr dirty="0"/>
              <a:t>This structure is especially useful to reproduce and test in Logisim.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3B0B5E-DAD3-9B5D-5883-EC1C13B0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165" y="3547870"/>
            <a:ext cx="4571807" cy="3024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Full Adder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143000"/>
          <a:ext cx="56692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Cin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 marL="45720" marR="45720">
                    <a:solidFill>
                      <a:srgbClr val="365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E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41732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158191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1984248"/>
            <a:ext cx="3255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E28"/>
                </a:solidFill>
              </a:defRPr>
            </a:pPr>
            <a:r>
              <a:t>A=1, B=1, Cin=1</a:t>
            </a:r>
            <a:br/>
            <a:r>
              <a:t>1 + 1 + 1 = 11₂</a:t>
            </a:r>
            <a:br/>
            <a:r>
              <a:t>SUM = 1, Cout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65760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33488" y="3822191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4224528"/>
            <a:ext cx="32552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E28"/>
                </a:solidFill>
              </a:defRPr>
            </a:pPr>
            <a:r>
              <a:t>SUM is 1 for an odd number of 1s. Cout is 1 whenever the total is 2 or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Half Adder — Logisim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3930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rPr dirty="0"/>
              <a:t>0</a:t>
            </a:r>
            <a:r>
              <a:rPr lang="en-IN" dirty="0"/>
              <a:t>7</a:t>
            </a:r>
          </a:p>
          <a:p>
            <a:pPr>
              <a:defRPr sz="1600" b="1">
                <a:solidFill>
                  <a:srgbClr val="36528C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Suggested Logisim circuit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E28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E28"/>
                </a:solidFill>
              </a:defRPr>
            </a:pPr>
            <a: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508760"/>
            <a:ext cx="1234440" cy="640080"/>
          </a:xfrm>
          <a:prstGeom prst="roundRect">
            <a:avLst/>
          </a:prstGeom>
          <a:solidFill>
            <a:srgbClr val="E8ECF5"/>
          </a:solidFill>
          <a:ln>
            <a:solidFill>
              <a:srgbClr val="365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655063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6528C"/>
                </a:solidFill>
              </a:defRPr>
            </a:pPr>
            <a:r>
              <a:t>XOR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560320"/>
            <a:ext cx="1234440" cy="640080"/>
          </a:xfrm>
          <a:prstGeom prst="roundRect">
            <a:avLst/>
          </a:prstGeom>
          <a:solidFill>
            <a:srgbClr val="E8ECF5"/>
          </a:solidFill>
          <a:ln>
            <a:solidFill>
              <a:srgbClr val="365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70662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6528C"/>
                </a:solidFill>
              </a:defRPr>
            </a:pPr>
            <a:r>
              <a:t>AND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234440" y="1828800"/>
            <a:ext cx="594360" cy="9144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34440" y="2880360"/>
            <a:ext cx="594360" cy="9144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1828800"/>
            <a:ext cx="1234440" cy="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63240" y="2880360"/>
            <a:ext cx="1234440" cy="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4340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6528C"/>
                </a:solidFill>
              </a:defRPr>
            </a:pPr>
            <a:r>
              <a:t>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6528C"/>
                </a:solidFill>
              </a:defRPr>
            </a:pPr>
            <a:r>
              <a:t>CARRY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581912"/>
            <a:ext cx="4169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Test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984248"/>
            <a:ext cx="4169663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t>00 → SUM 0, CARRY 0</a:t>
            </a:r>
            <a:br/>
            <a:r>
              <a:t>01 → SUM 1, CARRY 0</a:t>
            </a:r>
            <a:br/>
            <a:r>
              <a:t>10 → SUM 1, CARRY 0</a:t>
            </a:r>
            <a:br/>
            <a:r>
              <a:t>11 → SUM 0, CARRY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617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91E28"/>
                </a:solidFill>
              </a:defRPr>
            </a:pPr>
            <a:r>
              <a:t>Use the Logisim switches to toggle A and B and observe the output indicators.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Full Adder — Logisim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393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rPr dirty="0"/>
              <a:t>0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Suggested construction: two Half Adders + one OR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234440" cy="640080"/>
          </a:xfrm>
          <a:prstGeom prst="roundRect">
            <a:avLst/>
          </a:prstGeom>
          <a:solidFill>
            <a:srgbClr val="E8ECF5"/>
          </a:solidFill>
          <a:ln>
            <a:solidFill>
              <a:srgbClr val="365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6528C"/>
                </a:solidFill>
              </a:defRPr>
            </a:pPr>
            <a:r>
              <a:t>HA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1234440" cy="640080"/>
          </a:xfrm>
          <a:prstGeom prst="roundRect">
            <a:avLst/>
          </a:prstGeom>
          <a:solidFill>
            <a:srgbClr val="E8ECF5"/>
          </a:solidFill>
          <a:ln>
            <a:solidFill>
              <a:srgbClr val="365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79222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6528C"/>
                </a:solidFill>
              </a:defRPr>
            </a:pPr>
            <a:r>
              <a:t>HA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1234440" cy="640080"/>
          </a:xfrm>
          <a:prstGeom prst="roundRect">
            <a:avLst/>
          </a:prstGeom>
          <a:solidFill>
            <a:srgbClr val="E8ECF5"/>
          </a:solidFill>
          <a:ln>
            <a:solidFill>
              <a:srgbClr val="365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9222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6528C"/>
                </a:solidFill>
              </a:defRPr>
            </a:pPr>
            <a:r>
              <a:t>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325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1E28"/>
                </a:solidFill>
              </a:defRPr>
            </a:pPr>
            <a:r>
              <a:t>A,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1E28"/>
                </a:solidFill>
              </a:defRPr>
            </a:pPr>
            <a:r>
              <a:t>S1, Cin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1E28"/>
                </a:solidFill>
              </a:defRPr>
            </a:pPr>
            <a:r>
              <a:t>C1, C2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1965960"/>
            <a:ext cx="594360" cy="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77639" y="1965960"/>
            <a:ext cx="594361" cy="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06440" y="1965960"/>
            <a:ext cx="777240" cy="0"/>
          </a:xfrm>
          <a:prstGeom prst="line">
            <a:avLst/>
          </a:prstGeom>
          <a:ln w="25400">
            <a:solidFill>
              <a:srgbClr val="365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294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6528C"/>
                </a:solidFill>
              </a:defRPr>
            </a:pPr>
            <a:r>
              <a:t>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6528C"/>
                </a:solidFill>
              </a:defRPr>
            </a:pPr>
            <a:r>
              <a:t>Cout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371600"/>
            <a:ext cx="3566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53528" y="1536192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1938528"/>
            <a:ext cx="316382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E28"/>
                </a:solidFill>
              </a:defRPr>
            </a:pPr>
            <a:r>
              <a:t>Try all 8 combinations of A, B and Cin.</a:t>
            </a:r>
            <a:br/>
            <a:br/>
            <a:r>
              <a:t>Example:</a:t>
            </a:r>
            <a:br/>
            <a:r>
              <a:t>1, 1, 1 → SUM 1, Cout 1</a:t>
            </a:r>
            <a:br/>
            <a:br/>
            <a:r>
              <a:t>Compare each result with the truth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299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2888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528C"/>
                </a:solidFill>
              </a:defRPr>
            </a:pPr>
            <a:r>
              <a:rPr lang="en-IN" dirty="0"/>
              <a:t>9</a:t>
            </a:r>
          </a:p>
          <a:p>
            <a:pPr>
              <a:defRPr sz="1600" b="1">
                <a:solidFill>
                  <a:srgbClr val="36528C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058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What We Designed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92807"/>
            <a:ext cx="96560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E28"/>
                </a:solidFill>
              </a:defRPr>
            </a:pPr>
            <a:r>
              <a:t>Half Adder: XOR for SUM and AND for CARRY.</a:t>
            </a:r>
            <a:br/>
            <a:r>
              <a:t>Full Adder: combines A, B and Cin and produces SUM and Cout.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10058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3273552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528C"/>
                </a:solidFill>
              </a:defRPr>
            </a:pPr>
            <a:r>
              <a:t>What We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75887"/>
            <a:ext cx="96560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E28"/>
                </a:solidFill>
              </a:defRPr>
            </a:pPr>
            <a:r>
              <a:t>All possible input combinations can be tested in Logisim and matched against the corresponding truth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058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5056631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6528C"/>
                </a:solidFill>
              </a:defRPr>
            </a:pPr>
            <a:r>
              <a:t>Final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458968"/>
            <a:ext cx="9656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E28"/>
                </a:solidFill>
              </a:defRPr>
            </a:pPr>
            <a:r>
              <a:t>The simulation demonstrates how basic logic gates form the foundation of binary arithmetic.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172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6528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714</Words>
  <Application>Microsoft Office PowerPoint</Application>
  <PresentationFormat>Widescreen</PresentationFormat>
  <Paragraphs>171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SREEPADA CH</cp:lastModifiedBy>
  <cp:revision>4</cp:revision>
  <dcterms:created xsi:type="dcterms:W3CDTF">2013-01-27T09:14:16Z</dcterms:created>
  <dcterms:modified xsi:type="dcterms:W3CDTF">2026-08-27T02:01:44Z</dcterms:modified>
  <cp:category/>
</cp:coreProperties>
</file>