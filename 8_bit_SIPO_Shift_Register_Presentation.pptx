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20" y="-640080"/>
            <a:ext cx="4297680" cy="4297680"/>
          </a:xfrm>
          <a:prstGeom prst="ellipse">
            <a:avLst/>
          </a:prstGeom>
          <a:solidFill>
            <a:srgbClr val="192B48"/>
          </a:solidFill>
          <a:ln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274320"/>
            <a:ext cx="2468880" cy="2468880"/>
          </a:xfrm>
          <a:prstGeom prst="ellipse">
            <a:avLst/>
          </a:prstGeom>
          <a:solidFill>
            <a:srgbClr val="223859"/>
          </a:solidFill>
          <a:ln>
            <a:solidFill>
              <a:srgbClr val="22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51008" y="978408"/>
            <a:ext cx="1051560" cy="1051560"/>
          </a:xfrm>
          <a:prstGeom prst="ellipse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6766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ADCC7"/>
                </a:solidFill>
                <a:latin typeface="Aptos"/>
              </a:rPr>
              <a:t>DIGITAL DESIGN &amp;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76656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F6F9FD"/>
                </a:solidFill>
                <a:latin typeface="Aptos"/>
              </a:rPr>
              <a:t>8-BIT SIPO</a:t>
            </a:r>
          </a:p>
          <a:p>
            <a:pPr algn="l">
              <a:spcAft>
                <a:spcPts val="500"/>
              </a:spcAft>
            </a:pPr>
            <a:r>
              <a:rPr sz="3600" b="1">
                <a:solidFill>
                  <a:srgbClr val="F6F9FD"/>
                </a:solidFill>
                <a:latin typeface="Aptos"/>
              </a:rPr>
              <a:t>SHIFT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907792"/>
            <a:ext cx="6217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67BEF5"/>
                </a:solidFill>
                <a:latin typeface="Aptos"/>
              </a:rPr>
              <a:t>Serial-In, Parallel-Out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456432"/>
            <a:ext cx="6217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B3C2D7"/>
                </a:solidFill>
                <a:latin typeface="Aptos"/>
              </a:rPr>
              <a:t>Design  •  Working  •  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160520"/>
            <a:ext cx="438912" cy="658368"/>
          </a:xfrm>
          <a:prstGeom prst="roundRect">
            <a:avLst/>
          </a:prstGeom>
          <a:solidFill>
            <a:srgbClr val="223859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315968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2ADCC7"/>
                </a:solidFill>
                <a:latin typeface="Aptos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40296" y="4489704"/>
            <a:ext cx="137159" cy="0"/>
          </a:xfrm>
          <a:prstGeom prst="line">
            <a:avLst/>
          </a:prstGeom>
          <a:ln w="1905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04888" y="4160520"/>
            <a:ext cx="438912" cy="658368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4315968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B3C2D7"/>
                </a:solidFill>
                <a:latin typeface="Aptos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52944" y="4489704"/>
            <a:ext cx="137160" cy="0"/>
          </a:xfrm>
          <a:prstGeom prst="line">
            <a:avLst/>
          </a:prstGeom>
          <a:ln w="1905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17536" y="4160520"/>
            <a:ext cx="438912" cy="658368"/>
          </a:xfrm>
          <a:prstGeom prst="roundRect">
            <a:avLst/>
          </a:prstGeom>
          <a:solidFill>
            <a:srgbClr val="223859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17536" y="4315968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2ADCC7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65592" y="4489704"/>
            <a:ext cx="137160" cy="0"/>
          </a:xfrm>
          <a:prstGeom prst="line">
            <a:avLst/>
          </a:prstGeom>
          <a:ln w="1905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30183" y="4160520"/>
            <a:ext cx="438912" cy="658368"/>
          </a:xfrm>
          <a:prstGeom prst="roundRect">
            <a:avLst/>
          </a:prstGeom>
          <a:solidFill>
            <a:srgbClr val="223859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4315968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2ADCC7"/>
                </a:solidFill>
                <a:latin typeface="Aptos"/>
              </a:rPr>
              <a:t>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78240" y="4489704"/>
            <a:ext cx="137160" cy="0"/>
          </a:xfrm>
          <a:prstGeom prst="line">
            <a:avLst/>
          </a:prstGeom>
          <a:ln w="1905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42832" y="4160520"/>
            <a:ext cx="438912" cy="658368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2832" y="4315968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B3C2D7"/>
                </a:solidFill>
                <a:latin typeface="Aptos"/>
              </a:rPr>
              <a:t>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90888" y="4489704"/>
            <a:ext cx="137160" cy="0"/>
          </a:xfrm>
          <a:prstGeom prst="line">
            <a:avLst/>
          </a:prstGeom>
          <a:ln w="1905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555480" y="4160520"/>
            <a:ext cx="438912" cy="658368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4315968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B3C2D7"/>
                </a:solidFill>
                <a:latin typeface="Aptos"/>
              </a:rPr>
              <a:t>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03536" y="4489704"/>
            <a:ext cx="137160" cy="0"/>
          </a:xfrm>
          <a:prstGeom prst="line">
            <a:avLst/>
          </a:prstGeom>
          <a:ln w="1905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168128" y="4160520"/>
            <a:ext cx="438912" cy="658368"/>
          </a:xfrm>
          <a:prstGeom prst="roundRect">
            <a:avLst/>
          </a:prstGeom>
          <a:solidFill>
            <a:srgbClr val="223859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68128" y="4315968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2ADCC7"/>
                </a:solidFill>
                <a:latin typeface="Aptos"/>
              </a:rPr>
              <a:t>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616184" y="4489704"/>
            <a:ext cx="137160" cy="0"/>
          </a:xfrm>
          <a:prstGeom prst="line">
            <a:avLst/>
          </a:prstGeom>
          <a:ln w="1905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780776" y="4160520"/>
            <a:ext cx="438912" cy="658368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0776" y="4315968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B3C2D7"/>
                </a:solidFill>
                <a:latin typeface="Aptos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983480"/>
            <a:ext cx="7132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6F9FD"/>
                </a:solidFill>
                <a:latin typeface="Aptos"/>
              </a:rPr>
              <a:t>A simple way to receive, store and output 8 bits of data.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5760720"/>
            <a:ext cx="749808" cy="50292"/>
          </a:xfrm>
          <a:prstGeom prst="rect">
            <a:avLst/>
          </a:prstGeom>
          <a:solidFill>
            <a:srgbClr val="FFC558"/>
          </a:solidFill>
          <a:ln>
            <a:solidFill>
              <a:srgbClr val="FFC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6016752"/>
            <a:ext cx="5029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B3C2D7"/>
                </a:solidFill>
                <a:latin typeface="Aptos"/>
              </a:rPr>
              <a:t>DDCA  |  Sequential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20040"/>
            <a:ext cx="438912" cy="41148"/>
          </a:xfrm>
          <a:prstGeom prst="rect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ADCC7"/>
                </a:solidFill>
                <a:latin typeface="Aptos"/>
              </a:rPr>
              <a:t>01 • 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6F9FD"/>
                </a:solidFill>
                <a:latin typeface="Aptos"/>
              </a:rPr>
              <a:t>What does SIPO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3C2D7"/>
                </a:solidFill>
                <a:latin typeface="Aptos"/>
              </a:rPr>
              <a:t>One bit enters at a time; eight stored bits are available at separate outputs.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3C2D7"/>
                </a:solidFill>
                <a:latin typeface="Aptos"/>
              </a:rPr>
              <a:t>02  /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520440" cy="196596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240280"/>
            <a:ext cx="566928" cy="566928"/>
          </a:xfrm>
          <a:prstGeom prst="ellipse">
            <a:avLst/>
          </a:prstGeom>
          <a:solidFill>
            <a:srgbClr val="67BEF5"/>
          </a:solidFill>
          <a:ln>
            <a:solidFill>
              <a:srgbClr val="67B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0D182D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67712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6F9FD"/>
                </a:solidFill>
                <a:latin typeface="Aptos"/>
              </a:rPr>
              <a:t>SERIAL-IN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71800"/>
            <a:ext cx="29718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B3C2D7"/>
                </a:solidFill>
                <a:latin typeface="Aptos"/>
              </a:rPr>
              <a:t>Data enters one bit at a time through a single input 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965960"/>
            <a:ext cx="3520440" cy="196596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60" y="2240280"/>
            <a:ext cx="566928" cy="566928"/>
          </a:xfrm>
          <a:prstGeom prst="ellipse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350008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0D182D"/>
                </a:solidFill>
                <a:latin typeface="Aptos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267712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6F9FD"/>
                </a:solidFill>
                <a:latin typeface="Aptos"/>
              </a:rPr>
              <a:t>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971800"/>
            <a:ext cx="29718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B3C2D7"/>
                </a:solidFill>
                <a:latin typeface="Aptos"/>
              </a:rPr>
              <a:t>Each clock edge moves stored data to the next flip-flop.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965960"/>
            <a:ext cx="3520440" cy="196596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49640" y="2240280"/>
            <a:ext cx="566928" cy="566928"/>
          </a:xfrm>
          <a:prstGeom prst="ellipse">
            <a:avLst/>
          </a:prstGeom>
          <a:solidFill>
            <a:srgbClr val="FFC558"/>
          </a:solidFill>
          <a:ln>
            <a:solidFill>
              <a:srgbClr val="FFC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350008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0D182D"/>
                </a:solidFill>
                <a:latin typeface="Aptos"/>
              </a:rP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267712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6F9FD"/>
                </a:solidFill>
                <a:latin typeface="Aptos"/>
              </a:rPr>
              <a:t>PARALLEL-OUT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2971800"/>
            <a:ext cx="29718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B3C2D7"/>
                </a:solidFill>
                <a:latin typeface="Aptos"/>
              </a:rPr>
              <a:t>The outputs Q0–Q7 show the stored bits together.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43400"/>
            <a:ext cx="10927080" cy="1234440"/>
          </a:xfrm>
          <a:prstGeom prst="roundRect">
            <a:avLst/>
          </a:prstGeom>
          <a:solidFill>
            <a:srgbClr val="223859"/>
          </a:solidFill>
          <a:ln>
            <a:solidFill>
              <a:srgbClr val="22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53712"/>
            <a:ext cx="1508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ADCC7"/>
                </a:solidFill>
                <a:latin typeface="Aptos"/>
              </a:rPr>
              <a:t>THE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919472"/>
            <a:ext cx="10241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6F9FD"/>
                </a:solidFill>
                <a:latin typeface="Aptos"/>
              </a:rPr>
              <a:t>8 D flip-flops  +  1 shared clock  +  1 serial input  =  8-bit SIPO register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B3C2D7"/>
                </a:solidFill>
                <a:latin typeface="Aptos"/>
              </a:rPr>
              <a:t>Each D flip-flop stores one bit. Eight flip-flops therefore store eight bits.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20040"/>
            <a:ext cx="438912" cy="41148"/>
          </a:xfrm>
          <a:prstGeom prst="rect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ADCC7"/>
                </a:solidFill>
                <a:latin typeface="Aptos"/>
              </a:rPr>
              <a:t>02 • CIRCUIT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6F9FD"/>
                </a:solidFill>
                <a:latin typeface="Aptos"/>
              </a:rPr>
              <a:t>8-bit SIPO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3C2D7"/>
                </a:solidFill>
                <a:latin typeface="Aptos"/>
              </a:rPr>
              <a:t>Connect each Q output to the next D input. All flip-flops share the same clock.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3C2D7"/>
                </a:solidFill>
                <a:latin typeface="Aptos"/>
              </a:rPr>
              <a:t>03  / 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ADCC7"/>
                </a:solidFill>
                <a:latin typeface="Aptos"/>
              </a:rPr>
              <a:t>SERIAL 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212848"/>
            <a:ext cx="182880" cy="0"/>
          </a:xfrm>
          <a:prstGeom prst="line">
            <a:avLst/>
          </a:prstGeom>
          <a:ln w="2540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8680" y="2212848"/>
            <a:ext cx="0" cy="118872"/>
          </a:xfrm>
          <a:prstGeom prst="line">
            <a:avLst/>
          </a:prstGeom>
          <a:ln w="2540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" y="2331720"/>
            <a:ext cx="841248" cy="822960"/>
          </a:xfrm>
          <a:prstGeom prst="roundRect">
            <a:avLst/>
          </a:prstGeom>
          <a:solidFill>
            <a:srgbClr val="192B48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441448"/>
            <a:ext cx="84124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6F9FD"/>
                </a:solidFill>
                <a:latin typeface="Aptos"/>
              </a:rPr>
              <a:t>FF0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70632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B3C2D7"/>
                </a:solidFill>
                <a:latin typeface="Aptos"/>
              </a:rPr>
              <a:t>D  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64408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67BEF5"/>
                </a:solidFill>
                <a:latin typeface="Aptos"/>
              </a:rPr>
              <a:t>Q0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63040" y="2852927"/>
            <a:ext cx="182880" cy="0"/>
          </a:xfrm>
          <a:prstGeom prst="line">
            <a:avLst/>
          </a:prstGeom>
          <a:ln w="1778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645920" y="2331720"/>
            <a:ext cx="841248" cy="82296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2441448"/>
            <a:ext cx="84124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6F9FD"/>
                </a:solidFill>
                <a:latin typeface="Aptos"/>
              </a:rPr>
              <a:t>FF1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770632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B3C2D7"/>
                </a:solidFill>
                <a:latin typeface="Aptos"/>
              </a:rPr>
              <a:t>D 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264408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67BEF5"/>
                </a:solidFill>
                <a:latin typeface="Aptos"/>
              </a:rPr>
              <a:t>Q1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87168" y="2852927"/>
            <a:ext cx="182880" cy="0"/>
          </a:xfrm>
          <a:prstGeom prst="line">
            <a:avLst/>
          </a:prstGeom>
          <a:ln w="1778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670048" y="2331720"/>
            <a:ext cx="841248" cy="82296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0048" y="2441448"/>
            <a:ext cx="84124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6F9FD"/>
                </a:solidFill>
                <a:latin typeface="Aptos"/>
              </a:rPr>
              <a:t>FF2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2770632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B3C2D7"/>
                </a:solidFill>
                <a:latin typeface="Aptos"/>
              </a:rPr>
              <a:t>D  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264408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67BEF5"/>
                </a:solidFill>
                <a:latin typeface="Aptos"/>
              </a:rPr>
              <a:t>Q2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11296" y="2852927"/>
            <a:ext cx="182880" cy="0"/>
          </a:xfrm>
          <a:prstGeom prst="line">
            <a:avLst/>
          </a:prstGeom>
          <a:ln w="1778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94176" y="2331720"/>
            <a:ext cx="841248" cy="82296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94176" y="2441448"/>
            <a:ext cx="84124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6F9FD"/>
                </a:solidFill>
                <a:latin typeface="Aptos"/>
              </a:rPr>
              <a:t>FF3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770632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B3C2D7"/>
                </a:solidFill>
                <a:latin typeface="Aptos"/>
              </a:rPr>
              <a:t>D  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4176" y="3264408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67BEF5"/>
                </a:solidFill>
                <a:latin typeface="Aptos"/>
              </a:rPr>
              <a:t>Q3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35424" y="2852927"/>
            <a:ext cx="182880" cy="0"/>
          </a:xfrm>
          <a:prstGeom prst="line">
            <a:avLst/>
          </a:prstGeom>
          <a:ln w="1778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718304" y="2331720"/>
            <a:ext cx="841248" cy="82296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2441448"/>
            <a:ext cx="84124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6F9FD"/>
                </a:solidFill>
                <a:latin typeface="Aptos"/>
              </a:rPr>
              <a:t>FF4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8304" y="2770632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B3C2D7"/>
                </a:solidFill>
                <a:latin typeface="Aptos"/>
              </a:rPr>
              <a:t>D  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8304" y="3264408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67BEF5"/>
                </a:solidFill>
                <a:latin typeface="Aptos"/>
              </a:rPr>
              <a:t>Q4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59552" y="2852927"/>
            <a:ext cx="182880" cy="0"/>
          </a:xfrm>
          <a:prstGeom prst="line">
            <a:avLst/>
          </a:prstGeom>
          <a:ln w="1778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742432" y="2331720"/>
            <a:ext cx="841248" cy="82296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42432" y="2441448"/>
            <a:ext cx="84124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6F9FD"/>
                </a:solidFill>
                <a:latin typeface="Aptos"/>
              </a:rPr>
              <a:t>FF5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2432" y="2770632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B3C2D7"/>
                </a:solidFill>
                <a:latin typeface="Aptos"/>
              </a:rPr>
              <a:t>D  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42432" y="3264408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67BEF5"/>
                </a:solidFill>
                <a:latin typeface="Aptos"/>
              </a:rPr>
              <a:t>Q5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83680" y="2852927"/>
            <a:ext cx="182880" cy="0"/>
          </a:xfrm>
          <a:prstGeom prst="line">
            <a:avLst/>
          </a:prstGeom>
          <a:ln w="1778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766560" y="2331720"/>
            <a:ext cx="841248" cy="82296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2441448"/>
            <a:ext cx="84124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6F9FD"/>
                </a:solidFill>
                <a:latin typeface="Aptos"/>
              </a:rPr>
              <a:t>FF6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2770632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B3C2D7"/>
                </a:solidFill>
                <a:latin typeface="Aptos"/>
              </a:rPr>
              <a:t>D  Q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264408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67BEF5"/>
                </a:solidFill>
                <a:latin typeface="Aptos"/>
              </a:rPr>
              <a:t>Q6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607808" y="2852927"/>
            <a:ext cx="182880" cy="0"/>
          </a:xfrm>
          <a:prstGeom prst="line">
            <a:avLst/>
          </a:prstGeom>
          <a:ln w="17780">
            <a:solidFill>
              <a:srgbClr val="2A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790688" y="2331720"/>
            <a:ext cx="841248" cy="82296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90688" y="2441448"/>
            <a:ext cx="84124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6F9FD"/>
                </a:solidFill>
                <a:latin typeface="Aptos"/>
              </a:rPr>
              <a:t>FF7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90688" y="2770632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B3C2D7"/>
                </a:solidFill>
                <a:latin typeface="Aptos"/>
              </a:rPr>
              <a:t>D  Q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90688" y="3264408"/>
            <a:ext cx="841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67BEF5"/>
                </a:solidFill>
                <a:latin typeface="Aptos"/>
              </a:rPr>
              <a:t>Q7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41248" y="3657600"/>
            <a:ext cx="7827264" cy="0"/>
          </a:xfrm>
          <a:prstGeom prst="line">
            <a:avLst/>
          </a:prstGeom>
          <a:ln w="20320">
            <a:solidFill>
              <a:srgbClr val="FFC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042416" y="3154680"/>
            <a:ext cx="0" cy="502920"/>
          </a:xfrm>
          <a:prstGeom prst="line">
            <a:avLst/>
          </a:prstGeom>
          <a:ln w="16510">
            <a:solidFill>
              <a:srgbClr val="FFC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066544" y="3154680"/>
            <a:ext cx="0" cy="502920"/>
          </a:xfrm>
          <a:prstGeom prst="line">
            <a:avLst/>
          </a:prstGeom>
          <a:ln w="16510">
            <a:solidFill>
              <a:srgbClr val="FFC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090672" y="3154680"/>
            <a:ext cx="0" cy="502920"/>
          </a:xfrm>
          <a:prstGeom prst="line">
            <a:avLst/>
          </a:prstGeom>
          <a:ln w="16510">
            <a:solidFill>
              <a:srgbClr val="FFC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114800" y="3154680"/>
            <a:ext cx="0" cy="502920"/>
          </a:xfrm>
          <a:prstGeom prst="line">
            <a:avLst/>
          </a:prstGeom>
          <a:ln w="16510">
            <a:solidFill>
              <a:srgbClr val="FFC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8928" y="3154680"/>
            <a:ext cx="0" cy="502920"/>
          </a:xfrm>
          <a:prstGeom prst="line">
            <a:avLst/>
          </a:prstGeom>
          <a:ln w="16510">
            <a:solidFill>
              <a:srgbClr val="FFC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163056" y="3154680"/>
            <a:ext cx="0" cy="502920"/>
          </a:xfrm>
          <a:prstGeom prst="line">
            <a:avLst/>
          </a:prstGeom>
          <a:ln w="16510">
            <a:solidFill>
              <a:srgbClr val="FFC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187184" y="3154680"/>
            <a:ext cx="0" cy="502920"/>
          </a:xfrm>
          <a:prstGeom prst="line">
            <a:avLst/>
          </a:prstGeom>
          <a:ln w="16510">
            <a:solidFill>
              <a:srgbClr val="FFC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211312" y="3154680"/>
            <a:ext cx="0" cy="502920"/>
          </a:xfrm>
          <a:prstGeom prst="line">
            <a:avLst/>
          </a:prstGeom>
          <a:ln w="16510">
            <a:solidFill>
              <a:srgbClr val="FFC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063240" y="376732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C558"/>
                </a:solidFill>
                <a:latin typeface="Aptos"/>
              </a:rPr>
              <a:t>COMMON CLOCK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" y="4187952"/>
            <a:ext cx="8138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6F9FD"/>
                </a:solidFill>
                <a:latin typeface="Aptos"/>
              </a:rPr>
              <a:t>Parallel outputs: Q0, Q1, Q2, Q3, Q4, Q5, Q6, Q7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" y="4709160"/>
            <a:ext cx="8001000" cy="1325880"/>
          </a:xfrm>
          <a:prstGeom prst="roundRect">
            <a:avLst/>
          </a:prstGeom>
          <a:solidFill>
            <a:srgbClr val="13223B"/>
          </a:solidFill>
          <a:ln>
            <a:solidFill>
              <a:srgbClr val="67B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047488"/>
            <a:ext cx="74523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67BEF5"/>
                </a:solidFill>
                <a:latin typeface="Aptos"/>
              </a:rPr>
              <a:t>PASTE YOUR LOGISIM SCREENSHOT HERE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5449824"/>
            <a:ext cx="7452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>
                <a:solidFill>
                  <a:srgbClr val="B3C2D7"/>
                </a:solidFill>
                <a:latin typeface="Aptos"/>
              </a:rPr>
              <a:t>Replace this placeholder with your circuit simulation image.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06840" y="2011680"/>
            <a:ext cx="2514600" cy="402336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35440" y="22860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ADCC7"/>
                </a:solidFill>
                <a:latin typeface="Aptos"/>
              </a:rPr>
              <a:t>DESIGN CHECKLIST</a:t>
            </a:r>
          </a:p>
        </p:txBody>
      </p:sp>
      <p:sp>
        <p:nvSpPr>
          <p:cNvPr id="65" name="Oval 64"/>
          <p:cNvSpPr/>
          <p:nvPr/>
        </p:nvSpPr>
        <p:spPr>
          <a:xfrm>
            <a:off x="9235440" y="2852928"/>
            <a:ext cx="91440" cy="91440"/>
          </a:xfrm>
          <a:prstGeom prst="ellipse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45752" y="2743200"/>
            <a:ext cx="184708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8 D flip-flops</a:t>
            </a:r>
          </a:p>
        </p:txBody>
      </p:sp>
      <p:sp>
        <p:nvSpPr>
          <p:cNvPr id="67" name="Oval 66"/>
          <p:cNvSpPr/>
          <p:nvPr/>
        </p:nvSpPr>
        <p:spPr>
          <a:xfrm>
            <a:off x="9235440" y="3538728"/>
            <a:ext cx="91440" cy="91440"/>
          </a:xfrm>
          <a:prstGeom prst="ellipse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45752" y="3429000"/>
            <a:ext cx="184708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Shared clock</a:t>
            </a:r>
          </a:p>
        </p:txBody>
      </p:sp>
      <p:sp>
        <p:nvSpPr>
          <p:cNvPr id="69" name="Oval 68"/>
          <p:cNvSpPr/>
          <p:nvPr/>
        </p:nvSpPr>
        <p:spPr>
          <a:xfrm>
            <a:off x="9235440" y="4224528"/>
            <a:ext cx="91440" cy="91440"/>
          </a:xfrm>
          <a:prstGeom prst="ellipse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45752" y="4114800"/>
            <a:ext cx="184708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Q → next D</a:t>
            </a:r>
          </a:p>
        </p:txBody>
      </p:sp>
      <p:sp>
        <p:nvSpPr>
          <p:cNvPr id="71" name="Oval 70"/>
          <p:cNvSpPr/>
          <p:nvPr/>
        </p:nvSpPr>
        <p:spPr>
          <a:xfrm>
            <a:off x="9235440" y="4910328"/>
            <a:ext cx="91440" cy="91440"/>
          </a:xfrm>
          <a:prstGeom prst="ellipse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45752" y="4800600"/>
            <a:ext cx="184708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8 outputs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35440" y="5486400"/>
            <a:ext cx="20116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B3C2D7"/>
                </a:solidFill>
                <a:latin typeface="Aptos"/>
              </a:rPr>
              <a:t>Tip: label SI, CLK and Q0–Q7 in Logisim.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20040"/>
            <a:ext cx="438912" cy="41148"/>
          </a:xfrm>
          <a:prstGeom prst="rect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ADCC7"/>
                </a:solidFill>
                <a:latin typeface="Aptos"/>
              </a:rPr>
              <a:t>03 • WORKING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6F9FD"/>
                </a:solidFill>
                <a:latin typeface="Aptos"/>
              </a:rPr>
              <a:t>How the bits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3C2D7"/>
                </a:solidFill>
                <a:latin typeface="Aptos"/>
              </a:rPr>
              <a:t>Example input sequence: 1 → 0 → 1 → 1 → 0 → 0 → 1 →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3C2D7"/>
                </a:solidFill>
                <a:latin typeface="Aptos"/>
              </a:rPr>
              <a:t>04  /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755648" cy="384048"/>
          </a:xfrm>
          <a:prstGeom prst="roundRect">
            <a:avLst/>
          </a:prstGeom>
          <a:solidFill>
            <a:srgbClr val="223859"/>
          </a:solidFill>
          <a:ln>
            <a:solidFill>
              <a:srgbClr val="22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56815"/>
            <a:ext cx="16276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2ADCC7"/>
                </a:solidFill>
                <a:latin typeface="Aptos"/>
              </a:rPr>
              <a:t>CLOCK PULSE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874519"/>
            <a:ext cx="2029967" cy="384048"/>
          </a:xfrm>
          <a:prstGeom prst="roundRect">
            <a:avLst/>
          </a:prstGeom>
          <a:solidFill>
            <a:srgbClr val="223859"/>
          </a:solidFill>
          <a:ln>
            <a:solidFill>
              <a:srgbClr val="22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1956815"/>
            <a:ext cx="1901951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2ADCC7"/>
                </a:solidFill>
                <a:latin typeface="Aptos"/>
              </a:rPr>
              <a:t>SERIAL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874519"/>
            <a:ext cx="3584448" cy="384048"/>
          </a:xfrm>
          <a:prstGeom prst="roundRect">
            <a:avLst/>
          </a:prstGeom>
          <a:solidFill>
            <a:srgbClr val="223859"/>
          </a:solidFill>
          <a:ln>
            <a:solidFill>
              <a:srgbClr val="22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956815"/>
            <a:ext cx="34564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2ADCC7"/>
                </a:solidFill>
                <a:latin typeface="Aptos"/>
              </a:rPr>
              <a:t>REGISTER (FF7 → FF0)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382012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Initial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382012"/>
            <a:ext cx="190195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FC558"/>
                </a:solidFill>
                <a:latin typeface="Aptos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382012"/>
            <a:ext cx="34564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00000000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775204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2775204"/>
            <a:ext cx="190195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FC558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775204"/>
            <a:ext cx="34564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00000001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168396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3168396"/>
            <a:ext cx="190195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FC558"/>
                </a:solidFill>
                <a:latin typeface="Apto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3168396"/>
            <a:ext cx="34564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00000010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561588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3561588"/>
            <a:ext cx="190195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FC558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3561588"/>
            <a:ext cx="34564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00000101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954779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3472" y="3954779"/>
            <a:ext cx="190195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FC558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3954779"/>
            <a:ext cx="34564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00001011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347971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33472" y="4347971"/>
            <a:ext cx="190195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FC558"/>
                </a:solidFill>
                <a:latin typeface="Apto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4347971"/>
            <a:ext cx="34564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00010110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741164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33472" y="4741164"/>
            <a:ext cx="190195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FC558"/>
                </a:solidFill>
                <a:latin typeface="Aptos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36592" y="4741164"/>
            <a:ext cx="34564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00101100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134355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33472" y="5134355"/>
            <a:ext cx="190195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FC558"/>
                </a:solidFill>
                <a:latin typeface="Apto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6592" y="5134355"/>
            <a:ext cx="34564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6F9FD"/>
                </a:solidFill>
                <a:latin typeface="Aptos"/>
              </a:rPr>
              <a:t>01011001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5527548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6F9FD"/>
                </a:solidFill>
                <a:latin typeface="Aptos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33472" y="5527548"/>
            <a:ext cx="190195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C558"/>
                </a:solidFill>
                <a:latin typeface="Aptos"/>
              </a:rPr>
              <a:t>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5477256"/>
            <a:ext cx="3584448" cy="338328"/>
          </a:xfrm>
          <a:prstGeom prst="roundRect">
            <a:avLst/>
          </a:prstGeom>
          <a:solidFill>
            <a:srgbClr val="165348"/>
          </a:solidFill>
          <a:ln>
            <a:solidFill>
              <a:srgbClr val="165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36592" y="5527548"/>
            <a:ext cx="34564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5CDEA0"/>
                </a:solidFill>
                <a:latin typeface="Aptos"/>
              </a:rPr>
              <a:t>10110010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32520" y="1874519"/>
            <a:ext cx="2743200" cy="429768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2148840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ADCC7"/>
                </a:solidFill>
                <a:latin typeface="Aptos"/>
              </a:rPr>
              <a:t>WHAT TO NOTICE</a:t>
            </a:r>
          </a:p>
        </p:txBody>
      </p:sp>
      <p:sp>
        <p:nvSpPr>
          <p:cNvPr id="43" name="Oval 42"/>
          <p:cNvSpPr/>
          <p:nvPr/>
        </p:nvSpPr>
        <p:spPr>
          <a:xfrm>
            <a:off x="9006840" y="2807208"/>
            <a:ext cx="91440" cy="91440"/>
          </a:xfrm>
          <a:prstGeom prst="ellipse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7152" y="2697480"/>
            <a:ext cx="193852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6F9FD"/>
                </a:solidFill>
                <a:latin typeface="Aptos"/>
              </a:rPr>
              <a:t>Each rising clock edge shifts the data one stage.</a:t>
            </a:r>
          </a:p>
        </p:txBody>
      </p:sp>
      <p:sp>
        <p:nvSpPr>
          <p:cNvPr id="45" name="Oval 44"/>
          <p:cNvSpPr/>
          <p:nvPr/>
        </p:nvSpPr>
        <p:spPr>
          <a:xfrm>
            <a:off x="9006840" y="3813048"/>
            <a:ext cx="91440" cy="91440"/>
          </a:xfrm>
          <a:prstGeom prst="ellipse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7152" y="3703320"/>
            <a:ext cx="193852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6F9FD"/>
                </a:solidFill>
                <a:latin typeface="Aptos"/>
              </a:rPr>
              <a:t>The newest bit enters FF0.</a:t>
            </a:r>
          </a:p>
        </p:txBody>
      </p:sp>
      <p:sp>
        <p:nvSpPr>
          <p:cNvPr id="47" name="Oval 46"/>
          <p:cNvSpPr/>
          <p:nvPr/>
        </p:nvSpPr>
        <p:spPr>
          <a:xfrm>
            <a:off x="9006840" y="4636008"/>
            <a:ext cx="91440" cy="91440"/>
          </a:xfrm>
          <a:prstGeom prst="ellipse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7152" y="4526280"/>
            <a:ext cx="193852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6F9FD"/>
                </a:solidFill>
                <a:latin typeface="Aptos"/>
              </a:rPr>
              <a:t>After 8 pulses, all 8 input bits are stored.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5486400"/>
            <a:ext cx="2148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5CDEA0"/>
                </a:solidFill>
                <a:latin typeface="Aptos"/>
              </a:rPr>
              <a:t>Final register: 10110010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DEA0"/>
                </a:solidFill>
                <a:latin typeface="Aptos"/>
              </a:rPr>
              <a:t>(read FF7 → FF0)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20040"/>
            <a:ext cx="438912" cy="41148"/>
          </a:xfrm>
          <a:prstGeom prst="rect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ADCC7"/>
                </a:solidFill>
                <a:latin typeface="Aptos"/>
              </a:rPr>
              <a:t>04 •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6F9FD"/>
                </a:solidFill>
                <a:latin typeface="Aptos"/>
              </a:rPr>
              <a:t>Where is a SIPO register used?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3C2D7"/>
                </a:solidFill>
                <a:latin typeface="Aptos"/>
              </a:rPr>
              <a:t>It is useful whenever serial data needs to become multiple digital outputs.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3C2D7"/>
                </a:solidFill>
                <a:latin typeface="Aptos"/>
              </a:rPr>
              <a:t>05  /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0744200" cy="96012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167128"/>
            <a:ext cx="566928" cy="530352"/>
          </a:xfrm>
          <a:prstGeom prst="roundRect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95144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0D182D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30552"/>
            <a:ext cx="3383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6F9FD"/>
                </a:solidFill>
                <a:latin typeface="Aptos"/>
              </a:rPr>
              <a:t>LED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121408"/>
            <a:ext cx="6126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B3C2D7"/>
                </a:solidFill>
                <a:latin typeface="Aptos"/>
              </a:rPr>
              <a:t>Control several LEDs while using fewer microcontroller output pins.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744200" cy="96012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2" y="3401568"/>
            <a:ext cx="566928" cy="530352"/>
          </a:xfrm>
          <a:prstGeom prst="roundRect">
            <a:avLst/>
          </a:prstGeom>
          <a:solidFill>
            <a:srgbClr val="67BEF5"/>
          </a:solidFill>
          <a:ln>
            <a:solidFill>
              <a:srgbClr val="67B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29584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0D182D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64992"/>
            <a:ext cx="3383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6F9FD"/>
                </a:solidFill>
                <a:latin typeface="Aptos"/>
              </a:rPr>
              <a:t>Serial-to-parallel 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355848"/>
            <a:ext cx="6126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B3C2D7"/>
                </a:solidFill>
                <a:latin typeface="Aptos"/>
              </a:rPr>
              <a:t>Collect incoming serial bits and present them together at separate outputs.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744200" cy="96012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4636007"/>
            <a:ext cx="566928" cy="530352"/>
          </a:xfrm>
          <a:prstGeom prst="roundRect">
            <a:avLst/>
          </a:prstGeom>
          <a:solidFill>
            <a:srgbClr val="FFC558"/>
          </a:solidFill>
          <a:ln>
            <a:solidFill>
              <a:srgbClr val="FFC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764024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0D182D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599431"/>
            <a:ext cx="3383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6F9FD"/>
                </a:solidFill>
                <a:latin typeface="Aptos"/>
              </a:rPr>
              <a:t>Display interfaces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90288"/>
            <a:ext cx="6126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B3C2D7"/>
                </a:solidFill>
                <a:latin typeface="Aptos"/>
              </a:rPr>
              <a:t>Drive indicator panels and support digital display/control circuits.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806440"/>
            <a:ext cx="10744200" cy="438912"/>
          </a:xfrm>
          <a:prstGeom prst="roundRect">
            <a:avLst/>
          </a:prstGeom>
          <a:solidFill>
            <a:srgbClr val="223859"/>
          </a:solidFill>
          <a:ln>
            <a:solidFill>
              <a:srgbClr val="22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916168"/>
            <a:ext cx="10332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2ADCC7"/>
                </a:solidFill>
                <a:latin typeface="Aptos"/>
              </a:rPr>
              <a:t>Real-world example: the 74HC595 is a common shift-register IC used to expand digital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20040"/>
            <a:ext cx="438912" cy="41148"/>
          </a:xfrm>
          <a:prstGeom prst="rect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9768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ADCC7"/>
                </a:solidFill>
                <a:latin typeface="Aptos"/>
              </a:rPr>
              <a:t>05 •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6F9FD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3C2D7"/>
                </a:solidFill>
                <a:latin typeface="Aptos"/>
              </a:rPr>
              <a:t>One circuit, one bit at a time, eight outputs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3C2D7"/>
                </a:solidFill>
                <a:latin typeface="Aptos"/>
              </a:rPr>
              <a:t>06  /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6492240" cy="3566160"/>
          </a:xfrm>
          <a:prstGeom prst="roundRect">
            <a:avLst/>
          </a:prstGeom>
          <a:solidFill>
            <a:srgbClr val="192B48"/>
          </a:solidFill>
          <a:ln>
            <a:solidFill>
              <a:srgbClr val="4D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5669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ADCC7"/>
                </a:solidFill>
                <a:latin typeface="Aptos"/>
              </a:rPr>
              <a:t>REMEMBER THESE 4 POINTS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852928"/>
            <a:ext cx="91440" cy="91440"/>
          </a:xfrm>
          <a:prstGeom prst="ellipse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545896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6F9FD"/>
                </a:solidFill>
                <a:latin typeface="Aptos"/>
              </a:rPr>
              <a:t>SIPO = Serial-In, Parallel-Out.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3493008"/>
            <a:ext cx="91440" cy="91440"/>
          </a:xfrm>
          <a:prstGeom prst="ellipse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83280"/>
            <a:ext cx="545896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6F9FD"/>
                </a:solidFill>
                <a:latin typeface="Aptos"/>
              </a:rPr>
              <a:t>Eight D flip-flops store eight bits.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4133088"/>
            <a:ext cx="91440" cy="91440"/>
          </a:xfrm>
          <a:prstGeom prst="ellipse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23360"/>
            <a:ext cx="545896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6F9FD"/>
                </a:solidFill>
                <a:latin typeface="Aptos"/>
              </a:rPr>
              <a:t>A shared clock controls the shifting.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4773168"/>
            <a:ext cx="91440" cy="91440"/>
          </a:xfrm>
          <a:prstGeom prst="ellipse">
            <a:avLst/>
          </a:prstGeom>
          <a:solidFill>
            <a:srgbClr val="2ADCC7"/>
          </a:solidFill>
          <a:ln>
            <a:solidFill>
              <a:srgbClr val="2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545896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6F9FD"/>
                </a:solidFill>
                <a:latin typeface="Aptos"/>
              </a:rPr>
              <a:t>Parallel outputs make all stored bits available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874519"/>
            <a:ext cx="3794760" cy="3566160"/>
          </a:xfrm>
          <a:prstGeom prst="roundRect">
            <a:avLst/>
          </a:prstGeom>
          <a:solidFill>
            <a:srgbClr val="223859"/>
          </a:solidFill>
          <a:ln>
            <a:solidFill>
              <a:srgbClr val="22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2240280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C558"/>
                </a:solidFill>
                <a:latin typeface="Aptos"/>
              </a:rPr>
              <a:t>FINAL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834640"/>
            <a:ext cx="310896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3100" b="1">
                <a:solidFill>
                  <a:srgbClr val="5CDEA0"/>
                </a:solidFill>
                <a:latin typeface="Aptos"/>
              </a:rPr>
              <a:t>10110010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703320"/>
            <a:ext cx="3108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>
                <a:solidFill>
                  <a:srgbClr val="F6F9FD"/>
                </a:solidFill>
                <a:latin typeface="Aptos"/>
              </a:rPr>
              <a:t>After 8 clock pulses</a:t>
            </a:r>
          </a:p>
          <a:p>
            <a:pPr algn="ctr">
              <a:spcAft>
                <a:spcPts val="500"/>
              </a:spcAft>
            </a:pPr>
            <a:r>
              <a:rPr sz="1500" b="0">
                <a:solidFill>
                  <a:srgbClr val="F6F9FD"/>
                </a:solidFill>
                <a:latin typeface="Aptos"/>
              </a:rPr>
              <a:t>for the example input sequence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709160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2ADCC7"/>
                </a:solidFill>
                <a:latin typeface="Aptos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9788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6F9FD"/>
                </a:solidFill>
                <a:latin typeface="Aptos"/>
              </a:rPr>
              <a:t>Questions?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916168"/>
            <a:ext cx="8412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B3C2D7"/>
                </a:solidFill>
                <a:latin typeface="Aptos"/>
              </a:rPr>
              <a:t>Tip for presenting: point to the circuit, explain one clock pulse, then show the final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